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65A7-13D5-6EAB-F72D-20673E411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99CF7-4119-D3DD-91B7-8D334E21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AFB72-8300-66C6-1D62-48F7E68F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FC4A-DC9C-40D3-983F-5A47F013A94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08FF5-F44A-181C-C63A-8BE5214B5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12EC6-51D4-1D99-08F5-5F8ED02E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D2C7F-7934-4152-AADD-6A4517C9C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45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2C8A-B9BB-6C41-0929-76755E9E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A3C0E-A3FE-9DCD-F2E2-9AE0C5E69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94063-C250-8F51-4C9A-27D7644F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FC4A-DC9C-40D3-983F-5A47F013A94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6FD33-8134-7EA3-4FF7-457071E68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A6529-BA7F-EF5D-0CC2-E1124150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D2C7F-7934-4152-AADD-6A4517C9C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8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DD97-4F88-F496-687D-DD16919DE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01C45-3890-E403-7EEA-DE34DF12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C9F9-22DF-9C10-20B2-F335864DC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FC4A-DC9C-40D3-983F-5A47F013A94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3AE46-CD42-788F-0AED-6EEC16EF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B20FC-3141-6170-3A7E-6418AD84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D2C7F-7934-4152-AADD-6A4517C9C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4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AAC11-AFEB-F12B-EEAC-C1693DE0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56922-981E-4B72-1D26-028BEE032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DACFF-29A6-5EDE-E8C9-6B7FC49D7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03AD7-7392-385B-4DAE-DA62332E1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FC4A-DC9C-40D3-983F-5A47F013A94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D96E6-037E-CC1F-B192-31987C22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74928-3932-33F3-CBB9-F3A05D58A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D2C7F-7934-4152-AADD-6A4517C9C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44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EB271-774B-DD73-B141-26D166B9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1B001-4D80-66DD-70FE-2D7539343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06212-0337-722F-E5BE-4E49FE1C3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1893B-9355-4449-5C41-0E16EBCE5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9CAAD-ED8C-FFCC-DE26-C1C6386F3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F33B82-A03C-1D88-9192-BDF15FE6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FC4A-DC9C-40D3-983F-5A47F013A94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5EB81B-9DF5-AD48-5544-E9186F1E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63EF89-6D11-40AD-45C6-F45B1B0C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D2C7F-7934-4152-AADD-6A4517C9C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21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D72C4-C1DC-F663-1D05-7AFEC1C8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7C080-FA8D-0B66-5E73-E7D8593E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FC4A-DC9C-40D3-983F-5A47F013A94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BD126-9271-C9B2-4F4D-B56FC7EF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65385-C731-FE94-883D-007C9DA8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D2C7F-7934-4152-AADD-6A4517C9C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42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429D5C-893F-8643-1FB9-28A000381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FC4A-DC9C-40D3-983F-5A47F013A94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4AF12-8453-CAAA-8976-D6B49332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D9FA3-973A-5367-76B7-8F1CF656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D2C7F-7934-4152-AADD-6A4517C9C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6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CC9BD-B094-C6EA-EB42-3D00C198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04DD-6D21-7EB2-8497-66558AE43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A96DC-039B-7AC6-F04B-97FBD8520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2A3CB-6B30-DF26-8E3C-D726E6C7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FC4A-DC9C-40D3-983F-5A47F013A94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7C0F7-7702-354B-D602-3D8EEB6F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AA8AF-6DE0-4E2C-09F9-F9EB1741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D2C7F-7934-4152-AADD-6A4517C9C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1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BE535-F340-AAF3-9983-327A8AA03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725058-BE5B-A502-DCEB-2102C5AF1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A298A-EA63-360B-B937-81F6692F3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B04AD-629A-6CAF-9049-A6F230292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FC4A-DC9C-40D3-983F-5A47F013A94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DF499-5CA2-6138-763B-1AFDA01F3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4FD2C-20E1-D322-8D87-D3C8C59B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D2C7F-7934-4152-AADD-6A4517C9C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16AB-A3A8-CE2A-FCFE-ED5E6C50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3117E-D68B-CBCC-14E5-D521F55AC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E8509-0A64-17A6-D998-8C11BA53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FC4A-DC9C-40D3-983F-5A47F013A94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DD2BE-D220-0314-56E1-7471F085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F49C0-952A-84DC-8779-8D2C36466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D2C7F-7934-4152-AADD-6A4517C9C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76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AD0DB4-A33D-EFAD-2DC8-4077AF937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C7C6B-9600-169A-827A-28A67E9C1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B70BC-696B-78C8-9708-546222B4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FC4A-DC9C-40D3-983F-5A47F013A94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B02E0-8B24-26F2-7D53-E648149F1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BCCD0-8096-552C-8188-4AA2A3A5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D2C7F-7934-4152-AADD-6A4517C9C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1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DDA20C-17EC-01B3-EA0C-854B7D93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31B2C-C9A5-9E16-6CBD-617819E70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9FA8B-075A-8A69-83D4-89B221FE1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CFC4A-DC9C-40D3-983F-5A47F013A94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3905F-B294-C343-4590-A5EA503CE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9CB5C-72BB-2EA3-A876-DBF0B7C75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D2C7F-7934-4152-AADD-6A4517C9C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asketball-referenc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430EF-00CF-F4D1-8C4C-65B831CF9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NBA Historical Efficiency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C0578-A274-14D2-F69A-E534A00B5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Carson Mallen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55768-E6FB-2994-B58C-F22489682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Broad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30343-8879-463F-F26A-981312E7E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Research Questions:</a:t>
            </a:r>
          </a:p>
          <a:p>
            <a:r>
              <a:rPr lang="en-US" sz="1700"/>
              <a:t>How has efficiency in stats changed in the NBA from 1980 to present?</a:t>
            </a:r>
          </a:p>
          <a:p>
            <a:r>
              <a:rPr lang="en-US" sz="1700"/>
              <a:t>Are modern NBA teams more efficient than earlier eras?</a:t>
            </a:r>
          </a:p>
          <a:p>
            <a:pPr marL="0" indent="0">
              <a:buNone/>
            </a:pPr>
            <a:r>
              <a:rPr lang="en-US" sz="1700"/>
              <a:t>Key Discoveries:</a:t>
            </a:r>
          </a:p>
          <a:p>
            <a:r>
              <a:rPr lang="en-US" sz="1700"/>
              <a:t>Both offensive and defensive ratings have increased overtime </a:t>
            </a:r>
          </a:p>
          <a:p>
            <a:r>
              <a:rPr lang="en-US" sz="1700"/>
              <a:t>Modern NBA teams are statistically much more efficient than past eras when adjusted for pace</a:t>
            </a:r>
          </a:p>
          <a:p>
            <a:r>
              <a:rPr lang="en-US" sz="1700"/>
              <a:t>Efficiency gains are tied to changes in play style and strategy</a:t>
            </a:r>
          </a:p>
          <a:p>
            <a:pPr marL="0" indent="0">
              <a:buNone/>
            </a:pPr>
            <a:r>
              <a:rPr lang="en-US" sz="1700"/>
              <a:t>Key Takeaways:</a:t>
            </a:r>
          </a:p>
          <a:p>
            <a:r>
              <a:rPr lang="en-US" sz="1700"/>
              <a:t>The NBA has shifted to a faster, spacing-based, analytics-driven style of play</a:t>
            </a:r>
          </a:p>
          <a:p>
            <a:r>
              <a:rPr lang="en-US" sz="1700"/>
              <a:t>Efficiency improvements are driven by shot selection rather than scoring volume</a:t>
            </a:r>
          </a:p>
          <a:p>
            <a:r>
              <a:rPr lang="en-US" sz="1700"/>
              <a:t>Modern NBA prioritizes high-value shots (three-pointers, easy finishes at the basket)</a:t>
            </a:r>
          </a:p>
          <a:p>
            <a:pPr marL="0" indent="0">
              <a:buNone/>
            </a:pPr>
            <a:endParaRPr lang="en-US" sz="1700"/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62491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DB4FA6-E0C3-4831-9DF3-2051DC133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Raw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0F1DE-4041-4011-2EAF-6E6DCBF11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 dirty="0"/>
              <a:t>Data Source:</a:t>
            </a:r>
          </a:p>
          <a:p>
            <a:r>
              <a:rPr lang="en-US" sz="1900" dirty="0"/>
              <a:t>Collected using </a:t>
            </a:r>
            <a:r>
              <a:rPr lang="en-US" sz="1900" dirty="0">
                <a:hlinkClick r:id="rId2"/>
              </a:rPr>
              <a:t>Basketball Reference</a:t>
            </a:r>
            <a:endParaRPr lang="en-US" sz="1900" dirty="0"/>
          </a:p>
          <a:p>
            <a:r>
              <a:rPr lang="en-US" sz="1900" dirty="0"/>
              <a:t>Covers NBA 1980 to present year</a:t>
            </a:r>
          </a:p>
          <a:p>
            <a:pPr marL="0" indent="0">
              <a:buNone/>
            </a:pPr>
            <a:r>
              <a:rPr lang="en-US" sz="1900" dirty="0"/>
              <a:t>Collection Method:</a:t>
            </a:r>
          </a:p>
          <a:p>
            <a:r>
              <a:rPr lang="en-US" sz="1900" dirty="0"/>
              <a:t>Web scraped by parsing HTML tables</a:t>
            </a:r>
          </a:p>
          <a:p>
            <a:r>
              <a:rPr lang="en-US" sz="1900" dirty="0"/>
              <a:t>Converted raw data into structured JSON format</a:t>
            </a:r>
          </a:p>
          <a:p>
            <a:r>
              <a:rPr lang="en-US" sz="1900" dirty="0"/>
              <a:t>Cleaned and exported final data sets as CSV files</a:t>
            </a:r>
          </a:p>
          <a:p>
            <a:r>
              <a:rPr lang="en-US" sz="1900" dirty="0"/>
              <a:t>Organized data for both league and team level analysis </a:t>
            </a:r>
          </a:p>
          <a:p>
            <a:pPr marL="0" indent="0">
              <a:buNone/>
            </a:pPr>
            <a:r>
              <a:rPr lang="en-US" sz="1900" dirty="0"/>
              <a:t>Available Data:</a:t>
            </a:r>
          </a:p>
          <a:p>
            <a:r>
              <a:rPr lang="en-US" sz="1900" dirty="0"/>
              <a:t>Season-level NBA statistics (1980 - 2026)</a:t>
            </a:r>
          </a:p>
          <a:p>
            <a:r>
              <a:rPr lang="en-US" sz="1900" dirty="0"/>
              <a:t>Team offensive and defensive performance metrics </a:t>
            </a:r>
          </a:p>
          <a:p>
            <a:r>
              <a:rPr lang="en-US" sz="1900" dirty="0"/>
              <a:t>Possession based stats (pace, turnover, rebounds)</a:t>
            </a:r>
          </a:p>
          <a:p>
            <a:r>
              <a:rPr lang="en-US" sz="1900" dirty="0"/>
              <a:t>Shooting efficiency data </a:t>
            </a:r>
          </a:p>
          <a:p>
            <a:r>
              <a:rPr lang="en-US" sz="1900" dirty="0"/>
              <a:t>League wide averages for each season</a:t>
            </a:r>
          </a:p>
        </p:txBody>
      </p:sp>
    </p:spTree>
    <p:extLst>
      <p:ext uri="{BB962C8B-B14F-4D97-AF65-F5344CB8AC3E}">
        <p14:creationId xmlns:p14="http://schemas.microsoft.com/office/powerpoint/2010/main" val="5785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19D03-90B2-D1BF-3D4D-23CA52F0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Processing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BCDC5-C0FE-A91E-9590-063CFFBAD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Data Cleaning:</a:t>
            </a:r>
          </a:p>
          <a:p>
            <a:r>
              <a:rPr lang="en-US" sz="2000" dirty="0"/>
              <a:t>Removed missing or incomplete season records </a:t>
            </a:r>
          </a:p>
          <a:p>
            <a:r>
              <a:rPr lang="en-US" sz="2000" dirty="0"/>
              <a:t>Standardized column names across datasets </a:t>
            </a:r>
          </a:p>
          <a:p>
            <a:r>
              <a:rPr lang="en-US" sz="2000" dirty="0"/>
              <a:t>Converted scraped text values into numeric formats</a:t>
            </a:r>
          </a:p>
          <a:p>
            <a:pPr marL="0" indent="0">
              <a:buNone/>
            </a:pPr>
            <a:r>
              <a:rPr lang="en-US" sz="2000" dirty="0"/>
              <a:t>Data Collected:</a:t>
            </a:r>
          </a:p>
          <a:p>
            <a:r>
              <a:rPr lang="en-US" sz="2000" dirty="0"/>
              <a:t>Offensive Rating (</a:t>
            </a:r>
            <a:r>
              <a:rPr lang="en-US" sz="2000" dirty="0" err="1"/>
              <a:t>ORtg</a:t>
            </a:r>
            <a:r>
              <a:rPr lang="en-US" sz="2000" dirty="0"/>
              <a:t>): </a:t>
            </a:r>
            <a:r>
              <a:rPr lang="en-US" sz="2000" dirty="0">
                <a:sym typeface="Wingdings" panose="05000000000000000000" pitchFamily="2" charset="2"/>
              </a:rPr>
              <a:t>Scoring efficiency per 100 possessions</a:t>
            </a:r>
          </a:p>
          <a:p>
            <a:r>
              <a:rPr lang="en-US" sz="2000" dirty="0">
                <a:sym typeface="Wingdings" panose="05000000000000000000" pitchFamily="2" charset="2"/>
              </a:rPr>
              <a:t>Defensive Rating (</a:t>
            </a:r>
            <a:r>
              <a:rPr lang="en-US" sz="2000" dirty="0" err="1">
                <a:sym typeface="Wingdings" panose="05000000000000000000" pitchFamily="2" charset="2"/>
              </a:rPr>
              <a:t>DRtg</a:t>
            </a:r>
            <a:r>
              <a:rPr lang="en-US" sz="2000" dirty="0">
                <a:sym typeface="Wingdings" panose="05000000000000000000" pitchFamily="2" charset="2"/>
              </a:rPr>
              <a:t>): Points allowed per 100 possessions </a:t>
            </a:r>
          </a:p>
          <a:p>
            <a:r>
              <a:rPr lang="en-US" sz="2000" dirty="0">
                <a:sym typeface="Wingdings" panose="05000000000000000000" pitchFamily="2" charset="2"/>
              </a:rPr>
              <a:t>Net Rating (</a:t>
            </a:r>
            <a:r>
              <a:rPr lang="en-US" sz="2000" dirty="0" err="1">
                <a:sym typeface="Wingdings" panose="05000000000000000000" pitchFamily="2" charset="2"/>
              </a:rPr>
              <a:t>NRtg</a:t>
            </a:r>
            <a:r>
              <a:rPr lang="en-US" sz="2000" dirty="0">
                <a:sym typeface="Wingdings" panose="05000000000000000000" pitchFamily="2" charset="2"/>
              </a:rPr>
              <a:t>): Overall team performance </a:t>
            </a:r>
          </a:p>
          <a:p>
            <a:r>
              <a:rPr lang="en-US" sz="2000" dirty="0">
                <a:sym typeface="Wingdings" panose="05000000000000000000" pitchFamily="2" charset="2"/>
              </a:rPr>
              <a:t>Pace: Possessions per game (speed context)</a:t>
            </a:r>
          </a:p>
          <a:p>
            <a:r>
              <a:rPr lang="en-US" sz="2000" dirty="0">
                <a:sym typeface="Wingdings" panose="05000000000000000000" pitchFamily="2" charset="2"/>
              </a:rPr>
              <a:t>Efficiency metrics (TS%, </a:t>
            </a:r>
            <a:r>
              <a:rPr lang="en-US" sz="2000" dirty="0" err="1">
                <a:sym typeface="Wingdings" panose="05000000000000000000" pitchFamily="2" charset="2"/>
              </a:rPr>
              <a:t>eFG</a:t>
            </a:r>
            <a:r>
              <a:rPr lang="en-US" sz="2000" dirty="0">
                <a:sym typeface="Wingdings" panose="05000000000000000000" pitchFamily="2" charset="2"/>
              </a:rPr>
              <a:t>%, turnover %, rebounding %, FT rate)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85201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72A3CD-E0E5-C85C-6148-582D3EB0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League Based Visualization 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9D0AD1-1EEA-558A-99F2-B7EE920F5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596" y="467208"/>
            <a:ext cx="711541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64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3BA0D-7836-DF44-E8FF-BA87FA6DA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Team Based </a:t>
            </a:r>
            <a:r>
              <a:rPr lang="en-US" sz="4000" dirty="0">
                <a:solidFill>
                  <a:srgbClr val="FFFFFF"/>
                </a:solidFill>
              </a:rPr>
              <a:t>Visualization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C39A72-A3B5-6676-04CE-11D541B26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764505"/>
            <a:ext cx="7225748" cy="532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52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E49E9-A324-E255-53EC-887DFB47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62F52F-7136-40F7-F1E6-9485F25C2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Findings:</a:t>
            </a:r>
          </a:p>
          <a:p>
            <a:r>
              <a:rPr lang="en-US" sz="1700"/>
              <a:t>Both offensive and defensive efficiency in the NBA have improved over time during the analytics era</a:t>
            </a:r>
          </a:p>
          <a:p>
            <a:r>
              <a:rPr lang="en-US" sz="1700"/>
              <a:t>The increased emphasis on the three-point shot and analytics-driven decision-making has shifted teams toward more statistically efficient shot selection (e.g., 3-pointers and shots at the rim)</a:t>
            </a:r>
          </a:p>
          <a:p>
            <a:r>
              <a:rPr lang="en-US" sz="1700"/>
              <a:t>As offensive efficiency has increased, defenses have adapted by prioritizing perimeter contesting and spacing control rather than solely interior defense</a:t>
            </a:r>
          </a:p>
          <a:p>
            <a:pPr marL="0" indent="0">
              <a:buNone/>
            </a:pPr>
            <a:r>
              <a:rPr lang="en-US" sz="1700"/>
              <a:t>Improvements: </a:t>
            </a:r>
          </a:p>
          <a:p>
            <a:r>
              <a:rPr lang="en-US" sz="1700"/>
              <a:t>Incorporate player-level data to capture individual contributions to efficiency changes</a:t>
            </a:r>
          </a:p>
          <a:p>
            <a:r>
              <a:rPr lang="en-US" sz="1700"/>
              <a:t>Expand analysis using predictive modeling to forecast future trends in offensive/defensive efficiency</a:t>
            </a:r>
          </a:p>
          <a:p>
            <a:r>
              <a:rPr lang="en-US" sz="1700"/>
              <a:t>Compare playoff vs. regular season efficiency to identify differences in defensive intensity and shot selection under pressure</a:t>
            </a:r>
          </a:p>
          <a:p>
            <a:endParaRPr lang="en-US" sz="1700"/>
          </a:p>
          <a:p>
            <a:endParaRPr lang="en-US" sz="1700"/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295383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397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NBA Historical Efficiency Analysis</vt:lpstr>
      <vt:lpstr>Broad Overview</vt:lpstr>
      <vt:lpstr>Raw Data</vt:lpstr>
      <vt:lpstr>Processing Data</vt:lpstr>
      <vt:lpstr>League Based Visualization </vt:lpstr>
      <vt:lpstr>Team Based Visualization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Mallen,Carson J</dc:creator>
  <cp:lastModifiedBy>Mallen,Carson J</cp:lastModifiedBy>
  <cp:revision>1</cp:revision>
  <dcterms:created xsi:type="dcterms:W3CDTF">2026-04-29T03:07:02Z</dcterms:created>
  <dcterms:modified xsi:type="dcterms:W3CDTF">2026-04-29T04:29:19Z</dcterms:modified>
</cp:coreProperties>
</file>